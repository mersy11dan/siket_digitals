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1965960" cy="23300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3383280"/>
            <a:ext cx="91440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0" i="0">
                <a:solidFill>
                  <a:srgbClr val="F7F4EE"/>
                </a:solidFill>
                <a:latin typeface="Georgia"/>
              </a:rPr>
              <a:t>Siket Digitals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61772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F0C9A8"/>
                </a:solidFill>
                <a:latin typeface="Georgia"/>
              </a:rPr>
              <a:t>Modern websites for growing businesses.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532120"/>
            <a:ext cx="2011680" cy="32004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150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9C2B6"/>
                </a:solidFill>
                <a:latin typeface="Calibri"/>
              </a:rPr>
              <a:t>Addis Ababa    ·    Websites and web apps    ·    Est.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6E68"/>
                </a:solidFill>
                <a:latin typeface="Calibri"/>
              </a:rPr>
              <a:t>THE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1917"/>
                </a:solidFill>
                <a:latin typeface="Georgia"/>
              </a:rPr>
              <a:t>A small team that builds the site a business is judged by.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6949440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A1917"/>
                </a:solidFill>
                <a:latin typeface="Calibri"/>
              </a:rPr>
              <a:t>Siket Digitals is a digital solutions team in Addis Ababa. We build modern, responsive, high-quality websites for businesses and organizations.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3F3C37"/>
                </a:solidFill>
                <a:latin typeface="Calibri"/>
              </a:rPr>
              <a:t>We help a business establish a strong online presence through clean design, a clear way for people to get in touch, and a site that works properly on a phone.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F3C37"/>
                </a:solidFill>
                <a:latin typeface="Calibri"/>
              </a:rPr>
              <a:t>The aim is simple: turn an idea into a professional digital experience that helps the business grow, reach its audience, and stand 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2011680"/>
            <a:ext cx="3520440" cy="109728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2121408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917"/>
                </a:solidFill>
                <a:latin typeface="Calibri"/>
              </a:rPr>
              <a:t>01   Based in Addis Ababa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F3C37"/>
                </a:solidFill>
                <a:latin typeface="Calibri"/>
              </a:rPr>
              <a:t>Local team, working with businesses that want a serious presence online.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3246120"/>
            <a:ext cx="3520440" cy="109728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3355848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917"/>
                </a:solidFill>
                <a:latin typeface="Calibri"/>
              </a:rPr>
              <a:t>02   Websites and web apps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F3C37"/>
                </a:solidFill>
                <a:latin typeface="Calibri"/>
              </a:rPr>
              <a:t>Marketing sites, browser software, and redesigns of sites that have fallen behind.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4480560"/>
            <a:ext cx="3520440" cy="109728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4590288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917"/>
                </a:solidFill>
                <a:latin typeface="Calibri"/>
              </a:rPr>
              <a:t>03   Built to be used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F3C37"/>
                </a:solidFill>
                <a:latin typeface="Calibri"/>
              </a:rPr>
              <a:t>Clear pages, fast loading, and a form or path that turns a visitor into a conversation.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C9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Siket Digitals  ·  Addis Ababa  ·  Est.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2  / 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6E68"/>
                </a:solidFill>
                <a:latin typeface="Calibri"/>
              </a:rPr>
              <a:t>WHAT WE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1917"/>
                </a:solidFill>
                <a:latin typeface="Georgia"/>
              </a:rPr>
              <a:t>Three kinds of work. One standard of finish.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3520440" cy="379476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3520440" cy="91440"/>
          </a:xfrm>
          <a:prstGeom prst="rect">
            <a:avLst/>
          </a:prstGeom>
          <a:solidFill>
            <a:srgbClr val="0B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28600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0B6E68"/>
                </a:solidFill>
                <a:latin typeface="Calibri"/>
              </a:rPr>
              <a:t>01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600" b="0" i="0">
                <a:solidFill>
                  <a:srgbClr val="1A1917"/>
                </a:solidFill>
                <a:latin typeface="Georgia"/>
              </a:rPr>
              <a:t>Marketing websites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3C37"/>
                </a:solidFill>
                <a:latin typeface="Calibri"/>
              </a:rPr>
              <a:t>A site that explains the business clearly and gives people an obvious way to get in touch. This is the core of the studio: a page a customer can trust.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65960"/>
            <a:ext cx="3520440" cy="379476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965960"/>
            <a:ext cx="3520440" cy="91440"/>
          </a:xfrm>
          <a:prstGeom prst="rect">
            <a:avLst/>
          </a:prstGeom>
          <a:solidFill>
            <a:srgbClr val="1A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28600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A1917"/>
                </a:solidFill>
                <a:latin typeface="Calibri"/>
              </a:rPr>
              <a:t>02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600" b="0" i="0">
                <a:solidFill>
                  <a:srgbClr val="1A1917"/>
                </a:solidFill>
                <a:latin typeface="Georgia"/>
              </a:rPr>
              <a:t>Web apps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3C37"/>
                </a:solidFill>
                <a:latin typeface="Calibri"/>
              </a:rPr>
              <a:t>Software that lives in the browser. That includes AI that can recommend things to each visitor, when the product needs more than a brochure.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965960"/>
            <a:ext cx="3520440" cy="379476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965960"/>
            <a:ext cx="3520440" cy="91440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228600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E36A1E"/>
                </a:solidFill>
                <a:latin typeface="Calibri"/>
              </a:rPr>
              <a:t>03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600" b="0" i="0">
                <a:solidFill>
                  <a:srgbClr val="1A1917"/>
                </a:solidFill>
                <a:latin typeface="Georgia"/>
              </a:rPr>
              <a:t>Redesigns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3C37"/>
                </a:solidFill>
                <a:latin typeface="Calibri"/>
              </a:rPr>
              <a:t>An existing site rebuilt so it feels current, reads clearly, and works properly on a phone. The business keeps its name. The experience catches 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C9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Siket Digitals  ·  Addis Ababa  ·  Est.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3  / 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6E68"/>
                </a:solidFill>
                <a:latin typeface="Calibri"/>
              </a:rPr>
              <a:t>HOW A PROJECT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1917"/>
                </a:solidFill>
                <a:latin typeface="Georgia"/>
              </a:rPr>
              <a:t>Four steps, from the first conversation to launch.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E36A1E"/>
                </a:solidFill>
                <a:latin typeface="Georgia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926080"/>
            <a:ext cx="2103120" cy="41148"/>
          </a:xfrm>
          <a:prstGeom prst="rect">
            <a:avLst/>
          </a:prstGeom>
          <a:solidFill>
            <a:srgbClr val="1A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256032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800" b="0" i="0">
                <a:solidFill>
                  <a:srgbClr val="1A1917"/>
                </a:solidFill>
                <a:latin typeface="Georgia"/>
              </a:rPr>
              <a:t>Talk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3C37"/>
                </a:solidFill>
                <a:latin typeface="Calibri"/>
              </a:rPr>
              <a:t>We learn the business, who it serves, and what the site has to 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14884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E36A1E"/>
                </a:solidFill>
                <a:latin typeface="Georgia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2926080"/>
            <a:ext cx="2103120" cy="41148"/>
          </a:xfrm>
          <a:prstGeom prst="rect">
            <a:avLst/>
          </a:prstGeom>
          <a:solidFill>
            <a:srgbClr val="1A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3200400"/>
            <a:ext cx="256032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800" b="0" i="0">
                <a:solidFill>
                  <a:srgbClr val="1A1917"/>
                </a:solidFill>
                <a:latin typeface="Georgia"/>
              </a:rPr>
              <a:t>Shape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3C37"/>
                </a:solidFill>
                <a:latin typeface="Calibri"/>
              </a:rPr>
              <a:t>We plan the pages and how the site should look and 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E36A1E"/>
                </a:solidFill>
                <a:latin typeface="Georgia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926080"/>
            <a:ext cx="2103120" cy="41148"/>
          </a:xfrm>
          <a:prstGeom prst="rect">
            <a:avLst/>
          </a:prstGeom>
          <a:solidFill>
            <a:srgbClr val="1A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200400"/>
            <a:ext cx="256032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800" b="0" i="0">
                <a:solidFill>
                  <a:srgbClr val="1A1917"/>
                </a:solidFill>
                <a:latin typeface="Georgia"/>
              </a:rPr>
              <a:t>Build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3C37"/>
                </a:solidFill>
                <a:latin typeface="Calibri"/>
              </a:rPr>
              <a:t>We design and develop it, and you see the work as it comes together.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14884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E36A1E"/>
                </a:solidFill>
                <a:latin typeface="Georgia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2926080"/>
            <a:ext cx="2103120" cy="41148"/>
          </a:xfrm>
          <a:prstGeom prst="rect">
            <a:avLst/>
          </a:prstGeom>
          <a:solidFill>
            <a:srgbClr val="1A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3200400"/>
            <a:ext cx="256032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800" b="0" i="0">
                <a:solidFill>
                  <a:srgbClr val="1A1917"/>
                </a:solidFill>
                <a:latin typeface="Georgia"/>
              </a:rPr>
              <a:t>Launch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3C37"/>
                </a:solidFill>
                <a:latin typeface="Calibri"/>
              </a:rPr>
              <a:t>We put it online and hand it over ready to use.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C9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Siket Digitals  ·  Addis Ababa  ·  Est.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4  / 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6E68"/>
                </a:solidFill>
                <a:latin typeface="Calibri"/>
              </a:rPr>
              <a:t>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1917"/>
                </a:solidFill>
                <a:latin typeface="Georgia"/>
              </a:rPr>
              <a:t>The people who design, build, and keep it fast.</a:t>
            </a:r>
          </a:p>
        </p:txBody>
      </p:sp>
      <p:pic>
        <p:nvPicPr>
          <p:cNvPr id="6" name="Picture 5" descr="Mihret_Dani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37360"/>
            <a:ext cx="1965960" cy="1965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3840479"/>
            <a:ext cx="338328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1A1917"/>
                </a:solidFill>
                <a:latin typeface="Georgia"/>
              </a:rPr>
              <a:t>Mihret Daniel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B6E68"/>
                </a:solidFill>
                <a:latin typeface="Calibri"/>
              </a:rPr>
              <a:t>Frontend developer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3C37"/>
                </a:solidFill>
                <a:latin typeface="Calibri"/>
              </a:rPr>
              <a:t>Uses React to build good-looking websites, and adds AI so a site can recommend things to each visitor.</a:t>
            </a:r>
          </a:p>
        </p:txBody>
      </p:sp>
      <p:pic>
        <p:nvPicPr>
          <p:cNvPr id="8" name="Picture 7" descr="Ribka_Mulu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737360"/>
            <a:ext cx="1965960" cy="1965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34840" y="3840479"/>
            <a:ext cx="338328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1A1917"/>
                </a:solidFill>
                <a:latin typeface="Georgia"/>
              </a:rPr>
              <a:t>Ribka Muluye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B6E68"/>
                </a:solidFill>
                <a:latin typeface="Calibri"/>
              </a:rPr>
              <a:t>Frontend developer and web designer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3C37"/>
                </a:solidFill>
                <a:latin typeface="Calibri"/>
              </a:rPr>
              <a:t>Makes modern, aesthetic websites from the first layout to the finished interface, shaped around each client.</a:t>
            </a:r>
          </a:p>
        </p:txBody>
      </p:sp>
      <p:pic>
        <p:nvPicPr>
          <p:cNvPr id="10" name="Picture 9" descr="Sofoniyas_Tekaleg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737360"/>
            <a:ext cx="1965960" cy="1965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83879" y="3840479"/>
            <a:ext cx="338328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1A1917"/>
                </a:solidFill>
                <a:latin typeface="Georgia"/>
              </a:rPr>
              <a:t>Sofoniyas Tekalegn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B6E68"/>
                </a:solidFill>
                <a:latin typeface="Calibri"/>
              </a:rPr>
              <a:t>Backend developer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3C37"/>
                </a:solidFill>
                <a:latin typeface="Calibri"/>
              </a:rPr>
              <a:t>Creates well-structured databases, secure APIs, and the logic that keeps data safe and pages fast.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C9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Siket Digitals  ·  Addis Ababa  ·  Est.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5  / 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6E68"/>
                </a:solidFill>
                <a:latin typeface="Calibri"/>
              </a:rPr>
              <a:t>BRAND COLORS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1917"/>
                </a:solidFill>
                <a:latin typeface="Georgia"/>
              </a:rPr>
              <a:t>Four colors. Use them the same way every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2651760" cy="1965960"/>
          </a:xfrm>
          <a:prstGeom prst="rect">
            <a:avLst/>
          </a:prstGeom>
          <a:solidFill>
            <a:srgbClr val="E6E0D1"/>
          </a:solidFill>
          <a:ln w="12700">
            <a:solidFill>
              <a:srgbClr val="C9C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32461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917"/>
                </a:solidFill>
                <a:latin typeface="Calibri"/>
              </a:rPr>
              <a:t>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23360"/>
            <a:ext cx="2651760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A1917"/>
                </a:solidFill>
                <a:latin typeface="Georgia"/>
              </a:rPr>
              <a:t>#E6E0D1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3C37"/>
                </a:solidFill>
                <a:latin typeface="Calibri"/>
              </a:rPr>
              <a:t>The base. Newsprint, not pure white. Use it for pages, slides, and documents.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874519"/>
            <a:ext cx="2651760" cy="1965960"/>
          </a:xfrm>
          <a:prstGeom prst="rect">
            <a:avLst/>
          </a:prstGeom>
          <a:solidFill>
            <a:srgbClr val="1A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32461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E"/>
                </a:solidFill>
                <a:latin typeface="Calibri"/>
              </a:rPr>
              <a:t>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4023360"/>
            <a:ext cx="2651760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A1917"/>
                </a:solidFill>
                <a:latin typeface="Georgia"/>
              </a:rPr>
              <a:t>#1A1917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3C37"/>
                </a:solidFill>
                <a:latin typeface="Calibri"/>
              </a:rPr>
              <a:t>Text, rules, and dark backgrounds. Headlines and body copy live in ink.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874519"/>
            <a:ext cx="2651760" cy="1965960"/>
          </a:xfrm>
          <a:prstGeom prst="rect">
            <a:avLst/>
          </a:prstGeom>
          <a:solidFill>
            <a:srgbClr val="0B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32461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E"/>
                </a:solidFill>
                <a:latin typeface="Calibri"/>
              </a:rPr>
              <a:t>Teal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023360"/>
            <a:ext cx="2651760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A1917"/>
                </a:solidFill>
                <a:latin typeface="Georgia"/>
              </a:rPr>
              <a:t>#0B6E68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3C37"/>
                </a:solidFill>
                <a:latin typeface="Calibri"/>
              </a:rPr>
              <a:t>The S in the logo. Links, roles, and small accents. Never a full-page wash.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1874519"/>
            <a:ext cx="2651760" cy="1965960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54312" y="32461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917"/>
                </a:solidFill>
                <a:latin typeface="Calibri"/>
              </a:rPr>
              <a:t>Orange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4023360"/>
            <a:ext cx="2651760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A1917"/>
                </a:solidFill>
                <a:latin typeface="Georgia"/>
              </a:rPr>
              <a:t>#E36A1E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3C37"/>
                </a:solidFill>
                <a:latin typeface="Calibri"/>
              </a:rPr>
              <a:t>The arrow. Buttons and one highlighted word. Button text stays ink, not white.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C9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Siket Digitals  ·  Addis Ababa  ·  Est.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6  / 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6E68"/>
                </a:solidFill>
                <a:latin typeface="Calibri"/>
              </a:rPr>
              <a:t>THE 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1917"/>
                </a:solidFill>
                <a:latin typeface="Georgia"/>
              </a:rPr>
              <a:t>One mark. Two correct placements.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5212080" cy="3520440"/>
          </a:xfrm>
          <a:prstGeom prst="rect">
            <a:avLst/>
          </a:prstGeom>
          <a:solidFill>
            <a:srgbClr val="13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48840"/>
            <a:ext cx="2103120" cy="24925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48640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F3C37"/>
                </a:solidFill>
                <a:latin typeface="Calibri"/>
              </a:rPr>
              <a:t>On ink. Set the name beside it in Georgia.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5212080" cy="3520440"/>
          </a:xfrm>
          <a:prstGeom prst="rect">
            <a:avLst/>
          </a:prstGeom>
          <a:solidFill>
            <a:srgbClr val="F6F3EC"/>
          </a:solidFill>
          <a:ln w="12700">
            <a:solidFill>
              <a:srgbClr val="C9C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148840"/>
            <a:ext cx="2103120" cy="24925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0" y="548640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F3C37"/>
                </a:solidFill>
                <a:latin typeface="Calibri"/>
              </a:rPr>
              <a:t>On paper, when the name is already on the page.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C9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Siket Digitals  ·  Addis Ababa  ·  Est.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7  / 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6E68"/>
                </a:solidFill>
                <a:latin typeface="Calibri"/>
              </a:rPr>
              <a:t>USING THE 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1917"/>
                </a:solidFill>
                <a:latin typeface="Georgia"/>
              </a:rPr>
              <a:t>Keep the mark intact. Do not invent a second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5349240" cy="402336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91440" cy="4023360"/>
          </a:xfrm>
          <a:prstGeom prst="rect">
            <a:avLst/>
          </a:prstGeom>
          <a:solidFill>
            <a:srgbClr val="0B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4709160" cy="3566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600" b="0" i="0">
                <a:solidFill>
                  <a:srgbClr val="1A1917"/>
                </a:solidFill>
                <a:latin typeface="Georgia"/>
              </a:rPr>
              <a:t>Do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600" b="0" i="0">
                <a:solidFill>
                  <a:srgbClr val="3F3C37"/>
                </a:solidFill>
                <a:latin typeface="Calibri"/>
              </a:rPr>
              <a:t>Use the official file. Do not redraw the S or the arrow.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600" b="0" i="0">
                <a:solidFill>
                  <a:srgbClr val="3F3C37"/>
                </a:solidFill>
                <a:latin typeface="Calibri"/>
              </a:rPr>
              <a:t>Leave clear space around the mark, about the height of the arrow tip.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600" b="0" i="0">
                <a:solidFill>
                  <a:srgbClr val="3F3C37"/>
                </a:solidFill>
                <a:latin typeface="Calibri"/>
              </a:rPr>
              <a:t>Place the S on ink with the name beside it, or the S alone on paper.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600" b="0" i="0">
                <a:solidFill>
                  <a:srgbClr val="3F3C37"/>
                </a:solidFill>
                <a:latin typeface="Calibri"/>
              </a:rPr>
              <a:t>Keep orange for the arrow and teal for the 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828800"/>
            <a:ext cx="5349240" cy="402336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828800"/>
            <a:ext cx="91440" cy="4023360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057400"/>
            <a:ext cx="4709160" cy="3566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600" b="0" i="0">
                <a:solidFill>
                  <a:srgbClr val="1A1917"/>
                </a:solidFill>
                <a:latin typeface="Georgia"/>
              </a:rPr>
              <a:t>Do not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600" b="0" i="0">
                <a:solidFill>
                  <a:srgbClr val="3F3C37"/>
                </a:solidFill>
                <a:latin typeface="Calibri"/>
              </a:rPr>
              <a:t>Do not stretch, rotate, outline, or add a shadow.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600" b="0" i="0">
                <a:solidFill>
                  <a:srgbClr val="3F3C37"/>
                </a:solidFill>
                <a:latin typeface="Calibri"/>
              </a:rPr>
              <a:t>Do not recolor the mark or swap orange and teal.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600" b="0" i="0">
                <a:solidFill>
                  <a:srgbClr val="3F3C37"/>
                </a:solidFill>
                <a:latin typeface="Calibri"/>
              </a:rPr>
              <a:t>Do not place it on a photograph or a busy pattern.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600" b="0" i="0">
                <a:solidFill>
                  <a:srgbClr val="3F3C37"/>
                </a:solidFill>
                <a:latin typeface="Calibri"/>
              </a:rPr>
              <a:t>Do not set the wordmark in a different typeface.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C9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Siket Digitals  ·  Addis Ababa  ·  Est.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8  / 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"/>
            <a:ext cx="640080" cy="7586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50292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F7F4EE"/>
                </a:solidFill>
                <a:latin typeface="Georgia"/>
              </a:rPr>
              <a:t>Start 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65836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E6E0D1"/>
                </a:solidFill>
                <a:latin typeface="Georgia"/>
              </a:rPr>
              <a:t>Tell us about the business and what the site has to do. We reply from the studio inbox.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36A1E"/>
                </a:solidFill>
                <a:latin typeface="Calibri"/>
              </a:rPr>
              <a:t>EMAIL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7F4EE"/>
                </a:solidFill>
                <a:latin typeface="Georgia"/>
              </a:rPr>
              <a:t>siketdigitals@gmail.com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79" y="324612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36A1E"/>
                </a:solidFill>
                <a:latin typeface="Calibri"/>
              </a:rPr>
              <a:t>PHONE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7F4EE"/>
                </a:solidFill>
                <a:latin typeface="Georgia"/>
              </a:rPr>
              <a:t>0937 591 141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36A1E"/>
                </a:solidFill>
                <a:latin typeface="Calibri"/>
              </a:rPr>
              <a:t>PHONE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7F4EE"/>
                </a:solidFill>
                <a:latin typeface="Georgia"/>
              </a:rPr>
              <a:t>0978 695 556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79" y="411480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36A1E"/>
                </a:solidFill>
                <a:latin typeface="Calibri"/>
              </a:rPr>
              <a:t>PHONE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7F4EE"/>
                </a:solidFill>
                <a:latin typeface="Georgia"/>
              </a:rPr>
              <a:t>0909 905 340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83479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36A1E"/>
                </a:solidFill>
                <a:latin typeface="Calibri"/>
              </a:rPr>
              <a:t>LINKEDIN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7F4EE"/>
                </a:solidFill>
                <a:latin typeface="Georgia"/>
              </a:rPr>
              <a:t>linkedin.com/company/siket-digital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79" y="4983479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36A1E"/>
                </a:solidFill>
                <a:latin typeface="Calibri"/>
              </a:rPr>
              <a:t>CITY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7F4EE"/>
                </a:solidFill>
                <a:latin typeface="Georgia"/>
              </a:rPr>
              <a:t>Addis Ababa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Siket Digitals</dc:title>
  <dc:subject>Brand and studio presentation</dc:subject>
  <dc:creator>Siket Digitals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